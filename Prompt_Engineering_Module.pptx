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63080"/>
          </a:solidFill>
        </p:spPr>
      </p:sp>
      <p:sp>
        <p:nvSpPr>
          <p:cNvPr id="4" name="Shape 2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2A337A"/>
          </a:solidFill>
        </p:spPr>
      </p:sp>
      <p:sp>
        <p:nvSpPr>
          <p:cNvPr id="5" name="Text 3"/>
          <p:cNvSpPr/>
          <p:nvPr/>
        </p:nvSpPr>
        <p:spPr>
          <a:xfrm>
            <a:off x="822960" y="2103120"/>
            <a:ext cx="9601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ENGINEERING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918845" y="3108960"/>
            <a:ext cx="2011680" cy="0"/>
          </a:xfrm>
          <a:prstGeom prst="line">
            <a:avLst/>
          </a:prstGeom>
          <a:noFill/>
          <a:ln w="38100">
            <a:solidFill>
              <a:srgbClr val="FF8C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Module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Nine building blocks, from theory to a working API call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5" name="Shape 3"/>
          <p:cNvSpPr/>
          <p:nvPr/>
        </p:nvSpPr>
        <p:spPr>
          <a:xfrm>
            <a:off x="658368" y="1664208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58368" y="166420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60020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Fundamentals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9" name="Shape 7"/>
          <p:cNvSpPr/>
          <p:nvPr/>
        </p:nvSpPr>
        <p:spPr>
          <a:xfrm>
            <a:off x="658368" y="2231136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0" name="Text 8"/>
          <p:cNvSpPr/>
          <p:nvPr/>
        </p:nvSpPr>
        <p:spPr>
          <a:xfrm>
            <a:off x="658368" y="223113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2167128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Anatomy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13" name="Shape 11"/>
          <p:cNvSpPr/>
          <p:nvPr/>
        </p:nvSpPr>
        <p:spPr>
          <a:xfrm>
            <a:off x="658368" y="2798064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658368" y="279806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2734056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Templates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17" name="Shape 15"/>
          <p:cNvSpPr/>
          <p:nvPr/>
        </p:nvSpPr>
        <p:spPr>
          <a:xfrm>
            <a:off x="658368" y="3364992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8" name="Text 16"/>
          <p:cNvSpPr/>
          <p:nvPr/>
        </p:nvSpPr>
        <p:spPr>
          <a:xfrm>
            <a:off x="658368" y="33649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3300984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/ One / Few-shot Prompting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67912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21" name="Shape 19"/>
          <p:cNvSpPr/>
          <p:nvPr/>
        </p:nvSpPr>
        <p:spPr>
          <a:xfrm>
            <a:off x="658368" y="3931920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658368" y="39319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3867912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Role, System, Instruction, Persona, Constraint, Multi-turn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160020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25" name="Shape 23"/>
          <p:cNvSpPr/>
          <p:nvPr/>
        </p:nvSpPr>
        <p:spPr>
          <a:xfrm>
            <a:off x="6327648" y="1664208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26" name="Text 24"/>
          <p:cNvSpPr/>
          <p:nvPr/>
        </p:nvSpPr>
        <p:spPr>
          <a:xfrm>
            <a:off x="6327648" y="166420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84848" y="160020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Refinement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2167128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29" name="Shape 27"/>
          <p:cNvSpPr/>
          <p:nvPr/>
        </p:nvSpPr>
        <p:spPr>
          <a:xfrm>
            <a:off x="6327648" y="2231136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8"/>
          <p:cNvSpPr/>
          <p:nvPr/>
        </p:nvSpPr>
        <p:spPr>
          <a:xfrm>
            <a:off x="6327648" y="223113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84848" y="2167128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Outputs (JSON)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2734056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33" name="Shape 31"/>
          <p:cNvSpPr/>
          <p:nvPr/>
        </p:nvSpPr>
        <p:spPr>
          <a:xfrm>
            <a:off x="6327648" y="2798064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4" name="Text 32"/>
          <p:cNvSpPr/>
          <p:nvPr/>
        </p:nvSpPr>
        <p:spPr>
          <a:xfrm>
            <a:off x="6327648" y="279806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2734056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Task-Based Prompting (6 tasks)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17920" y="3300984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37" name="Shape 35"/>
          <p:cNvSpPr/>
          <p:nvPr/>
        </p:nvSpPr>
        <p:spPr>
          <a:xfrm>
            <a:off x="6327648" y="3364992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8" name="Text 36"/>
          <p:cNvSpPr/>
          <p:nvPr/>
        </p:nvSpPr>
        <p:spPr>
          <a:xfrm>
            <a:off x="6327648" y="33649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00984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 to LLM APIs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Designing Input to Shape 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492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</p:spPr>
      </p:sp>
      <p:sp>
        <p:nvSpPr>
          <p:cNvPr id="7" name="Text 5"/>
          <p:cNvSpPr/>
          <p:nvPr/>
        </p:nvSpPr>
        <p:spPr>
          <a:xfrm>
            <a:off x="685800" y="1920240"/>
            <a:ext cx="6035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Definition:  </a:t>
            </a:r>
            <a:r>
              <a:rPr lang="en-US" sz="13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designing input text to guide an LLM toward a desired, reliable, accurate output — without changing model weights.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6035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matters:  </a:t>
            </a:r>
            <a:r>
              <a:rPr lang="en-US" sz="13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LLMs are next-token predictors — a well-crafted prompt shapes the probability distribution over next tokens toward what you want.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178308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43800" y="1947672"/>
            <a:ext cx="3977640" cy="10881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80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 Bad: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"Write about dogs"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4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 Good: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"Write a 100-word paragraph on why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dogs suit elderly companions, warm tone."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5 Pillars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594360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ambiguity — say exactly what you want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16352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2A337A"/>
          </a:solidFill>
        </p:spPr>
      </p:sp>
      <p:sp>
        <p:nvSpPr>
          <p:cNvPr id="16" name="Text 14"/>
          <p:cNvSpPr/>
          <p:nvPr/>
        </p:nvSpPr>
        <p:spPr>
          <a:xfrm>
            <a:off x="2953512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53512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the model relevant background it lacks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75504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5312664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Specificity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12664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 format, length, tone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34656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2A337A"/>
          </a:solidFill>
        </p:spPr>
      </p:sp>
      <p:sp>
        <p:nvSpPr>
          <p:cNvPr id="22" name="Text 20"/>
          <p:cNvSpPr/>
          <p:nvPr/>
        </p:nvSpPr>
        <p:spPr>
          <a:xfrm>
            <a:off x="7671816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Iteration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71816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prompt rarely works — refine on output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93808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10030968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Decomposition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30968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complex tasks into smaller steps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ANATOMY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Skeleton Every Prompt Should Follow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 this as a checklist students apply to every prompt they write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ROLE / PERSONA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26080" y="201168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should the model act as?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23744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26080" y="2523744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info the model needs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3580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 / INSTRUCTION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26080" y="3035808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exactly to 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4787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 DATA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26080" y="3547872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actual content to work 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59936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CONSTRAINTS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26080" y="4059936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Format, length, tone, style rules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5720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 FORMAT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26080" y="457200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answer should look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084064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084064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EXAMPLES (optional)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26080" y="5084064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Few-shot demonstrations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03720" y="2011680"/>
            <a:ext cx="4846320" cy="4114800"/>
          </a:xfrm>
          <a:prstGeom prst="roundRect">
            <a:avLst>
              <a:gd name="adj" fmla="val 1778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2176272"/>
            <a:ext cx="4389120" cy="37856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Role: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 are an experienced high school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biology teacher.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Context: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 is preparing for a Class 10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board exam.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Explain photosynthesis.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Constraints: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Simple language, max 150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words, no jargon.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 format: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bullets + 1-line summary.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TEMPLATES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Reusable Prompts With Placeholders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</p:spPr>
      </p:sp>
      <p:sp>
        <p:nvSpPr>
          <p:cNvPr id="7" name="Text 5"/>
          <p:cNvSpPr/>
          <p:nvPr/>
        </p:nvSpPr>
        <p:spPr>
          <a:xfrm>
            <a:off x="685800" y="1874520"/>
            <a:ext cx="49377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Concept:  </a:t>
            </a: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writing prompts from scratch each time, use reusable templates with placeholders — like a function signature.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49377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  </a:t>
            </a: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systems (chatbots, RAG pipelines) fill templates programmatically instead of hand-writing prompts.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</p:spPr>
      </p:sp>
      <p:sp>
        <p:nvSpPr>
          <p:cNvPr id="10" name="Shape 8"/>
          <p:cNvSpPr/>
          <p:nvPr/>
        </p:nvSpPr>
        <p:spPr>
          <a:xfrm>
            <a:off x="658368" y="3977640"/>
            <a:ext cx="365760" cy="36576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1" name="Text 9"/>
          <p:cNvSpPr/>
          <p:nvPr/>
        </p:nvSpPr>
        <p:spPr>
          <a:xfrm>
            <a:off x="658368" y="39776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97764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434840"/>
            <a:ext cx="493776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Templates separate fixed instruction logic from variable data — exactly what LangChain's PromptTemplate class formalizes.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737360"/>
            <a:ext cx="5669280" cy="4389120"/>
          </a:xfrm>
          <a:prstGeom prst="roundRect">
            <a:avLst>
              <a:gd name="adj" fmla="val 1667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901952"/>
            <a:ext cx="5212080" cy="40599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SUMMARY_TEMPLATE = """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 are a professional editor.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Summarize the following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{document_type} in {num_sentences}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sentences.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Focus on: {focus_area}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{input_text}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Summary: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"""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prompt = SUMMARY_TEMPLATE.format(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document_type="research paper",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num_sentences=3,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focus_area="key findings...",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input_text=paper_text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IN-CONTEXT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Zero-shot, One-shot, Few-shot Prompting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</p:spPr>
      </p:sp>
      <p:sp>
        <p:nvSpPr>
          <p:cNvPr id="7" name="Text 5"/>
          <p:cNvSpPr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Zero-shot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291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examples given — just the instruction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2918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when: </a:t>
            </a:r>
            <a:r>
              <a:rPr lang="en-US" sz="10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Simple, well-known tasks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</p:spPr>
      </p:sp>
      <p:sp>
        <p:nvSpPr>
          <p:cNvPr id="11" name="Text 9"/>
          <p:cNvSpPr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One-shot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291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example given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880360"/>
            <a:ext cx="32918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when: </a:t>
            </a:r>
            <a:r>
              <a:rPr lang="en-US" sz="10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needs light format guidance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8321040" y="192024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Few-shot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331720"/>
            <a:ext cx="3291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2–5+ examples given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32918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when: </a:t>
            </a: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pattern-matching: tone, structure, edge cases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867912"/>
            <a:ext cx="5029200" cy="2093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Few-shot example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Classify sentiment as Positive/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Negative/Neutral.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"Amazing service!" → Positive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"It was okay." → Neutral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"Worst experience." → Negative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"The movie was a waste of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time." → 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703320"/>
            <a:ext cx="5623560" cy="2423160"/>
          </a:xfrm>
          <a:prstGeom prst="roundRect">
            <a:avLst>
              <a:gd name="adj" fmla="val 3019"/>
            </a:avLst>
          </a:prstGeom>
          <a:solidFill>
            <a:srgbClr val="F4F6FC"/>
          </a:solidFill>
        </p:spPr>
      </p:sp>
      <p:sp>
        <p:nvSpPr>
          <p:cNvPr id="21" name="Text 19"/>
          <p:cNvSpPr/>
          <p:nvPr/>
        </p:nvSpPr>
        <p:spPr>
          <a:xfrm>
            <a:off x="6355080" y="38404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few-shot works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4206240"/>
            <a:ext cx="516636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in-context learning — the model infers the task pattern from examples, no gradient updates. Think of it as the "no-training-needed" alternative to fine-tuning for narrow tasks.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5257800"/>
            <a:ext cx="5120640" cy="0"/>
          </a:xfrm>
          <a:prstGeom prst="line">
            <a:avLst/>
          </a:prstGeom>
          <a:noFill/>
          <a:ln w="12700">
            <a:solidFill>
              <a:srgbClr val="D8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5394960"/>
            <a:ext cx="51663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Trade-off: </a:t>
            </a: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examples = more tokens = higher cost + slower inference. Diminishing returns after ~4–5 examples.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PROMPTING TECHNIQUES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System, Role, Instruction, Constraint, Multi-turn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7" name="Shape 5"/>
          <p:cNvSpPr/>
          <p:nvPr/>
        </p:nvSpPr>
        <p:spPr>
          <a:xfrm>
            <a:off x="621792" y="194767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621792" y="194767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286000"/>
            <a:ext cx="4617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Meta-instruction set before conversation starts — governs the entire session, usually invisible to the end-user.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770632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"You are a helpful coding assistant. Always explain code before writing it."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13" name="Shape 11"/>
          <p:cNvSpPr/>
          <p:nvPr/>
        </p:nvSpPr>
        <p:spPr>
          <a:xfrm>
            <a:off x="6291072" y="194767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6291072" y="194767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1920240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Role / Persona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2286000"/>
            <a:ext cx="4617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Assigns an identity/expertise to shape tone, vocabulary, and reasoning style.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2770632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"You are a senior cardiologist explaining a diagnosis to a worried family."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19" name="Shape 17"/>
          <p:cNvSpPr/>
          <p:nvPr/>
        </p:nvSpPr>
        <p:spPr>
          <a:xfrm>
            <a:off x="621792" y="363931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621792" y="363931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Instruction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77640"/>
            <a:ext cx="4617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Direct, imperative task commands — the most common prompting form.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462272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"Translate the following sentence into French."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4747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25" name="Shape 23"/>
          <p:cNvSpPr/>
          <p:nvPr/>
        </p:nvSpPr>
        <p:spPr>
          <a:xfrm>
            <a:off x="6291072" y="363931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6291072" y="363931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611880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Constraint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3977640"/>
            <a:ext cx="4617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Explicit boundaries placed on the output.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2512" y="4462272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"Answer in exactly 3 bullets, under 50 words, no jargon."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5166360"/>
            <a:ext cx="112928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685800" y="530352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Multi-turn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5623560"/>
            <a:ext cx="6126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conditions on the full chat history — re-reading everything each turn, since it has no persistent memory (ties directly to attention / transformer teaching).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9440" y="5303520"/>
            <a:ext cx="45720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Turn 1: Explain gradient descent.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Turn 2: Now ELI10.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Turn 3: Give Python code.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Container vs. Character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subtle System-Prompt vs. Persona distinction, made concrete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2A337A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container. Governs behavior for the entire session — scope, rules, boundaries.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97280" y="2788920"/>
            <a:ext cx="448056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 w="12700">
            <a:solidFill>
              <a:srgbClr val="6C74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92608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PERSONA / 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3246120"/>
            <a:ext cx="40233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AA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character. A technique used inside the system prompt — shapes identity &amp; voice, not facts.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384048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4005072"/>
            <a:ext cx="3337560" cy="11338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System: You are a senior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cardiologist explaining a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diagnosis to a worried family.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 warm but medically accurate.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Avoid jargon.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2A337A"/>
          </a:solidFill>
        </p:spPr>
      </p:sp>
      <p:sp>
        <p:nvSpPr>
          <p:cNvPr id="13" name="Text 11"/>
          <p:cNvSpPr/>
          <p:nvPr/>
        </p:nvSpPr>
        <p:spPr>
          <a:xfrm>
            <a:off x="6583680" y="178308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One-line distinction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148840"/>
            <a:ext cx="49377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 =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rules for this whole conversation" (session-wide, container)
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 =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"respond as this identity" (a technique used inside the container)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3749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2A337A"/>
          </a:solidFill>
        </p:spPr>
      </p:sp>
      <p:sp>
        <p:nvSpPr>
          <p:cNvPr id="16" name="Text 14"/>
          <p:cNvSpPr/>
          <p:nvPr/>
        </p:nvSpPr>
        <p:spPr>
          <a:xfrm>
            <a:off x="6583680" y="39319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Classroom test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251960"/>
            <a:ext cx="49377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students: "If I remove this instruction, does the whole behavior change, or just the tone?"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4800600"/>
            <a:ext cx="49377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system prompt →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 collapses (jargon, rules gone)
</a:t>
            </a:r>
            <a:r>
              <a:rPr lang="en-US" sz="1100" b="1" dirty="0">
                <a:solidFill>
                  <a:srgbClr val="8CFF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persona →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tone/style shifts, facts stay the same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Does Each Element Go?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the 7 anatomy elements into System vs. User prompt, LangChain-style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685800" y="146304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 </a:t>
            </a: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fixed for the whole conversation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F8C42"/>
          </a:solidFill>
        </p:spPr>
      </p:sp>
      <p:sp>
        <p:nvSpPr>
          <p:cNvPr id="7" name="Text 5"/>
          <p:cNvSpPr/>
          <p:nvPr/>
        </p:nvSpPr>
        <p:spPr>
          <a:xfrm>
            <a:off x="6309360" y="1463040"/>
            <a:ext cx="5212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 </a:t>
            </a: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changes with every request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9" name="Text 7"/>
          <p:cNvSpPr/>
          <p:nvPr/>
        </p:nvSpPr>
        <p:spPr>
          <a:xfrm>
            <a:off x="594360" y="242316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/ Persona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0" y="2487168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2926080" y="2487168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2423160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identity needed throughout the conversation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66644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66644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 (general)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0" y="2930652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2926080" y="293065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866644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 rule — doesn't change per call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19" name="Text 17"/>
          <p:cNvSpPr/>
          <p:nvPr/>
        </p:nvSpPr>
        <p:spPr>
          <a:xfrm>
            <a:off x="594360" y="3310128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0" y="337413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2926080" y="3374136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310128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/ tone rule is also static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753612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53612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0" y="381762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6C74B0"/>
          </a:solidFill>
        </p:spPr>
      </p:sp>
      <p:sp>
        <p:nvSpPr>
          <p:cNvPr id="26" name="Text 24"/>
          <p:cNvSpPr/>
          <p:nvPr/>
        </p:nvSpPr>
        <p:spPr>
          <a:xfrm>
            <a:off x="2926080" y="3817620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753612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background → System · retrieved/RAG chunks → User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197096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29" name="Text 27"/>
          <p:cNvSpPr/>
          <p:nvPr/>
        </p:nvSpPr>
        <p:spPr>
          <a:xfrm>
            <a:off x="594360" y="4197096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26080" y="426110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8C42"/>
          </a:solidFill>
        </p:spPr>
      </p:sp>
      <p:sp>
        <p:nvSpPr>
          <p:cNvPr id="31" name="Text 29"/>
          <p:cNvSpPr/>
          <p:nvPr/>
        </p:nvSpPr>
        <p:spPr>
          <a:xfrm>
            <a:off x="2926080" y="4261104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4197096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dynamic part, always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640580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64058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(specific ask)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26080" y="4704588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8C42"/>
          </a:solidFill>
        </p:spPr>
      </p:sp>
      <p:sp>
        <p:nvSpPr>
          <p:cNvPr id="36" name="Text 34"/>
          <p:cNvSpPr/>
          <p:nvPr/>
        </p:nvSpPr>
        <p:spPr>
          <a:xfrm>
            <a:off x="2926080" y="4704588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640580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call's specific request differs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5084064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39" name="Text 37"/>
          <p:cNvSpPr/>
          <p:nvPr/>
        </p:nvSpPr>
        <p:spPr>
          <a:xfrm>
            <a:off x="594360" y="5084064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Format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926080" y="5148072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6C74B0"/>
          </a:solidFill>
        </p:spPr>
      </p:sp>
      <p:sp>
        <p:nvSpPr>
          <p:cNvPr id="41" name="Text 39"/>
          <p:cNvSpPr/>
          <p:nvPr/>
        </p:nvSpPr>
        <p:spPr>
          <a:xfrm>
            <a:off x="2926080" y="51480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(usually)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5084064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format all session → System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5527548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5527548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 (few-shot)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926080" y="559155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6C74B0"/>
          </a:solidFill>
        </p:spPr>
      </p:sp>
      <p:sp>
        <p:nvSpPr>
          <p:cNvPr id="46" name="Text 44"/>
          <p:cNvSpPr/>
          <p:nvPr/>
        </p:nvSpPr>
        <p:spPr>
          <a:xfrm>
            <a:off x="2926080" y="5591556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/ separate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5527548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→ System · production/RAG → few-shot messages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One Question That Decides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928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</p:spPr>
      </p:sp>
      <p:sp>
        <p:nvSpPr>
          <p:cNvPr id="4" name="Text 2"/>
          <p:cNvSpPr/>
          <p:nvPr/>
        </p:nvSpPr>
        <p:spPr>
          <a:xfrm>
            <a:off x="777240" y="1143000"/>
            <a:ext cx="10698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Won't change → System prompt.  Changes every time → User prompt.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LangChain Example — Full Structure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6400800" cy="3566160"/>
          </a:xfrm>
          <a:prstGeom prst="roundRect">
            <a:avLst>
              <a:gd name="adj" fmla="val 2051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862072"/>
            <a:ext cx="5943600" cy="3236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langchain_anthropic import ChatAnthropic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langchain_core.prompts import \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ChatPromptTemplate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llm = ChatAnthropic(model="claude-sonnet-4-6")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prompt = ChatPromptTemplate.from_messages([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("system", """You are an experienced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high school biology teacher.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Always explain in simple language,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no jargon. Answer in 3 bullets +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1-line summary. Max 150 words."""),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("human", "Explain {topic} to a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student preparing for {exam_context}.")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chain = prompt | llm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response = chain.invoke({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"topic": "photosynthesis",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"exam_context": "Class 10 board exam"})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78040" y="22860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Element Mapping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78040" y="269748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10" name="Text 8"/>
          <p:cNvSpPr/>
          <p:nvPr/>
        </p:nvSpPr>
        <p:spPr>
          <a:xfrm>
            <a:off x="7315200" y="2697480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(biology teacher)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195560" y="281178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10195560" y="2811780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78040" y="3255264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14" name="Text 12"/>
          <p:cNvSpPr/>
          <p:nvPr/>
        </p:nvSpPr>
        <p:spPr>
          <a:xfrm>
            <a:off x="7315200" y="3255264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 (simple, no jargon)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95560" y="336956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10195560" y="3369564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3813048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18" name="Text 16"/>
          <p:cNvSpPr/>
          <p:nvPr/>
        </p:nvSpPr>
        <p:spPr>
          <a:xfrm>
            <a:off x="7315200" y="3813048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format (3 bullets)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195560" y="39273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10195560" y="3927348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4370832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22" name="Text 20"/>
          <p:cNvSpPr/>
          <p:nvPr/>
        </p:nvSpPr>
        <p:spPr>
          <a:xfrm>
            <a:off x="7315200" y="4370832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 (150 words)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95560" y="448513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4" name="Text 22"/>
          <p:cNvSpPr/>
          <p:nvPr/>
        </p:nvSpPr>
        <p:spPr>
          <a:xfrm>
            <a:off x="10195560" y="4485132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4928616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26" name="Text 24"/>
          <p:cNvSpPr/>
          <p:nvPr/>
        </p:nvSpPr>
        <p:spPr>
          <a:xfrm>
            <a:off x="7315200" y="4928616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(explain {topic})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195560" y="504291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8C42"/>
          </a:solidFill>
        </p:spPr>
      </p:sp>
      <p:sp>
        <p:nvSpPr>
          <p:cNvPr id="28" name="Text 26"/>
          <p:cNvSpPr/>
          <p:nvPr/>
        </p:nvSpPr>
        <p:spPr>
          <a:xfrm>
            <a:off x="10195560" y="5042916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548640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30" name="Text 28"/>
          <p:cNvSpPr/>
          <p:nvPr/>
        </p:nvSpPr>
        <p:spPr>
          <a:xfrm>
            <a:off x="7315200" y="5486400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({exam_context})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195560" y="56007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8C42"/>
          </a:solidFill>
        </p:spPr>
      </p:sp>
      <p:sp>
        <p:nvSpPr>
          <p:cNvPr id="32" name="Text 30"/>
          <p:cNvSpPr/>
          <p:nvPr/>
        </p:nvSpPr>
        <p:spPr>
          <a:xfrm>
            <a:off x="10195560" y="5600700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Tricky Case: Where Does Context Go?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types of context need different treatment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</p:spPr>
      </p:sp>
      <p:sp>
        <p:nvSpPr>
          <p:cNvPr id="5" name="Text 3"/>
          <p:cNvSpPr/>
          <p:nvPr/>
        </p:nvSpPr>
        <p:spPr>
          <a:xfrm>
            <a:off x="685800" y="15544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 A — </a:t>
            </a:r>
            <a:r>
              <a:rPr lang="en-US" sz="13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Never Changes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"Background that never changes" →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404872"/>
            <a:ext cx="4572000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("system", "You work for HubNine,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 AI consulting company. Always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align with our RAG-based philosophy.")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6446520" y="15544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 B — </a:t>
            </a:r>
            <a:r>
              <a:rPr lang="en-US" sz="135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Arrives Per Query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5074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"Background that arrives with each query" (RAG chunks) → User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224028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2404872"/>
            <a:ext cx="4617720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("human", "Context: {retrieved_chunks}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Question: {user_question}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Answer only using the context above.")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F4E9D8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66160"/>
            <a:ext cx="10744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exactly your RAG / pgvector pattern:  </a:t>
            </a: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retrieved context always goes in the User message, since different chunks retrieve every query.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Few-shot Examples — Two Placement Options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5148072"/>
            <a:ext cx="4937760" cy="1225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Option 1: inline in System (small sets)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("system", """Classify sentiment.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Examples: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"Amazing!" → Positive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"Worst ever." → Negative""")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498348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5148072"/>
            <a:ext cx="5212080" cy="1225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Option 2: FewShotChatMessagePromptTemplate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examples = [{"input":..., "output":...}]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few_shot_prompt = FewShotChatMessage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PromptTemplate(example_prompt=..., examples=examples)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vs. User — The Takeaway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one-line summary students should memorize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2A337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04241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"kaise behave karna hai, hamesha"
</a:t>
            </a:r>
            <a:r>
              <a:rPr lang="en-US" sz="18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"abhi kya karna hai, is specific request ke liye"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2A337A"/>
          </a:solidFill>
        </p:spPr>
      </p:sp>
      <p:sp>
        <p:nvSpPr>
          <p:cNvPr id="7" name="Shape 5"/>
          <p:cNvSpPr/>
          <p:nvPr/>
        </p:nvSpPr>
        <p:spPr>
          <a:xfrm>
            <a:off x="822960" y="3977640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822960" y="39776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39776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48463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· Constraint · Output-format · General instruction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8C42"/>
          </a:solidFill>
        </p:spPr>
      </p:sp>
      <p:sp>
        <p:nvSpPr>
          <p:cNvPr id="12" name="Shape 10"/>
          <p:cNvSpPr/>
          <p:nvPr/>
        </p:nvSpPr>
        <p:spPr>
          <a:xfrm>
            <a:off x="6492240" y="3977640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6492240" y="39776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39776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50292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· Input data · Retrieved context · Specific question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REFINEMENT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Iterating From Failure to Fix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457200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prompt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1828800"/>
            <a:ext cx="2560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39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79192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FF8C42"/>
          </a:solidFill>
        </p:spPr>
      </p:sp>
      <p:sp>
        <p:nvSpPr>
          <p:cNvPr id="10" name="Text 8"/>
          <p:cNvSpPr/>
          <p:nvPr/>
        </p:nvSpPr>
        <p:spPr>
          <a:xfrm>
            <a:off x="2679192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45152" y="1828800"/>
            <a:ext cx="2560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39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01184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4901184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output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67144" y="1828800"/>
            <a:ext cx="2560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39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23176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FF8C42"/>
          </a:solidFill>
        </p:spPr>
      </p:sp>
      <p:sp>
        <p:nvSpPr>
          <p:cNvPr id="16" name="Text 14"/>
          <p:cNvSpPr/>
          <p:nvPr/>
        </p:nvSpPr>
        <p:spPr>
          <a:xfrm>
            <a:off x="7123176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failure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89136" y="1828800"/>
            <a:ext cx="2560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39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9345168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Adjust prompt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↺ Repeat until output meets the requirement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Common Failure Modes &amp; Fixes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23" name="Text 21"/>
          <p:cNvSpPr/>
          <p:nvPr/>
        </p:nvSpPr>
        <p:spPr>
          <a:xfrm>
            <a:off x="594360" y="370332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too verbose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370332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explicit length constraint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70332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26" name="Text 24"/>
          <p:cNvSpPr/>
          <p:nvPr/>
        </p:nvSpPr>
        <p:spPr>
          <a:xfrm>
            <a:off x="6355080" y="370332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format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370332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explicit output template/example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29" name="Text 27"/>
          <p:cNvSpPr/>
          <p:nvPr/>
        </p:nvSpPr>
        <p:spPr>
          <a:xfrm>
            <a:off x="594360" y="425196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Hallucinated facts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425196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"Only use provided context, say I don't know if unsure"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425196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32" name="Text 30"/>
          <p:cNvSpPr/>
          <p:nvPr/>
        </p:nvSpPr>
        <p:spPr>
          <a:xfrm>
            <a:off x="6355080" y="425196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tone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25196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persona + tone constraint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35" name="Text 33"/>
          <p:cNvSpPr/>
          <p:nvPr/>
        </p:nvSpPr>
        <p:spPr>
          <a:xfrm>
            <a:off x="594360" y="480060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reasoning steps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480060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"Think step by step" (chain-of-thought cue)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480060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38" name="Text 36"/>
          <p:cNvSpPr/>
          <p:nvPr/>
        </p:nvSpPr>
        <p:spPr>
          <a:xfrm>
            <a:off x="6355080" y="480060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Ignoring instructions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critical instruction to the end (recency bias)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OUTPUTS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Getting Machine-Parseable JSON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apps don't want free text — they need output that downstream code can parse (Text-to-SQL, agent pipelines)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76272"/>
            <a:ext cx="4937760" cy="17739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Basic technique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Extract as JSON with keys "name",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"age", "city".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Text: "John is 29 and lives in Mumbai."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Output: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{"name":"John","age":29,"city":"Mumbai"}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201168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176272"/>
            <a:ext cx="5212080" cy="17739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Better: explicit schema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 must strictly follow this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JSON schema: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 "name": "string",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"age": "integer",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"city": "string" }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 markdown formatting or extra text.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Production-grade techniques (advanced students)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621792" y="49377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/ tool calling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5303520"/>
            <a:ext cx="3337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enforces the schema, not just the prompt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48006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4462272" y="49377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62272" y="5303520"/>
            <a:ext cx="3337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API-level flag forcing valid JSON output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48006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8302752" y="49377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Pydantic + instructor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02752" y="5303520"/>
            <a:ext cx="3337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&amp; retry until output matches schema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TASK-BASED PROMPTING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Six Templates Behind Every Production API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7" name="Shape 5"/>
          <p:cNvSpPr/>
          <p:nvPr/>
        </p:nvSpPr>
        <p:spPr>
          <a:xfrm>
            <a:off x="621792" y="1947672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621792" y="194767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929384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Summarization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2377440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Summarize in {N} sentences, focusing on {aspect}.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70248" y="17830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12" name="Shape 10"/>
          <p:cNvSpPr/>
          <p:nvPr/>
        </p:nvSpPr>
        <p:spPr>
          <a:xfrm>
            <a:off x="4434840" y="1947672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3" name="Text 11"/>
          <p:cNvSpPr/>
          <p:nvPr/>
        </p:nvSpPr>
        <p:spPr>
          <a:xfrm>
            <a:off x="4434840" y="194767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929384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 Answering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71416" y="2377440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only using context; say "Not found" if absent — core RAG idea.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83296" y="17830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17" name="Shape 15"/>
          <p:cNvSpPr/>
          <p:nvPr/>
        </p:nvSpPr>
        <p:spPr>
          <a:xfrm>
            <a:off x="8247888" y="1947672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8247888" y="194767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05088" y="1929384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Information Extraction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84464" y="2377440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{entity_type} as a JSON list.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22" name="Shape 20"/>
          <p:cNvSpPr/>
          <p:nvPr/>
        </p:nvSpPr>
        <p:spPr>
          <a:xfrm>
            <a:off x="621792" y="3611880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23" name="Text 21"/>
          <p:cNvSpPr/>
          <p:nvPr/>
        </p:nvSpPr>
        <p:spPr>
          <a:xfrm>
            <a:off x="621792" y="361188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59359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" y="404164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into one of {category_list}; respond with label only.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70248" y="3447288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27" name="Shape 25"/>
          <p:cNvSpPr/>
          <p:nvPr/>
        </p:nvSpPr>
        <p:spPr>
          <a:xfrm>
            <a:off x="4434840" y="3611880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6"/>
          <p:cNvSpPr/>
          <p:nvPr/>
        </p:nvSpPr>
        <p:spPr>
          <a:xfrm>
            <a:off x="4434840" y="361188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59359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Translation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71416" y="404164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 {source_lang} → {target_lang}, preserve tone.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83296" y="3447288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32" name="Shape 30"/>
          <p:cNvSpPr/>
          <p:nvPr/>
        </p:nvSpPr>
        <p:spPr>
          <a:xfrm>
            <a:off x="8247888" y="3611880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3" name="Text 31"/>
          <p:cNvSpPr/>
          <p:nvPr/>
        </p:nvSpPr>
        <p:spPr>
          <a:xfrm>
            <a:off x="8247888" y="361188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05088" y="359359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Code Generation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84464" y="404164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{language} function per {task_description}, with docstring + example.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212080"/>
            <a:ext cx="11292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</p:spPr>
      </p:sp>
      <p:sp>
        <p:nvSpPr>
          <p:cNvPr id="37" name="Text 35"/>
          <p:cNvSpPr/>
          <p:nvPr/>
        </p:nvSpPr>
        <p:spPr>
          <a:xfrm>
            <a:off x="731520" y="5212080"/>
            <a:ext cx="10698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task templates are literally what production APIs charge for — this is the moment to transition into calling real APIs.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APIs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Prompt to Production Request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running models locally, send HTTP requests to a hosted model — how nearly all production GenAI apps 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86400" cy="3337560"/>
          </a:xfrm>
          <a:prstGeom prst="roundRect">
            <a:avLst>
              <a:gd name="adj" fmla="val 2192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76272"/>
            <a:ext cx="5029200" cy="30083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anthropic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client = anthropic.Anthropic(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api_key="YOUR_KEY")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response = client.messages.create(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model="claude-sonnet-4-6",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max_tokens=1000,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system="You are a helpful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assistant.",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messages=[{"role": "user",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"content": "Explain few-shot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prompting in 2 lines."}]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print(response.content[0].text)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20116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Parameters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423160"/>
            <a:ext cx="5577840" cy="384048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11" name="Text 9"/>
          <p:cNvSpPr/>
          <p:nvPr/>
        </p:nvSpPr>
        <p:spPr>
          <a:xfrm>
            <a:off x="6309360" y="2423160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242316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model version to 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843784"/>
            <a:ext cx="557784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6309360" y="2843784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messages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0" y="2843784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Conversation history (user/assistant)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3264408"/>
            <a:ext cx="5577840" cy="384048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17" name="Text 15"/>
          <p:cNvSpPr/>
          <p:nvPr/>
        </p:nvSpPr>
        <p:spPr>
          <a:xfrm>
            <a:off x="6309360" y="3264408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3840" y="3264408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System-level instruction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685032"/>
            <a:ext cx="557784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6309360" y="3685032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max_tokens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685032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length cap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105656"/>
            <a:ext cx="5577840" cy="384048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23" name="Text 21"/>
          <p:cNvSpPr/>
          <p:nvPr/>
        </p:nvSpPr>
        <p:spPr>
          <a:xfrm>
            <a:off x="6309360" y="4105656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4105656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Randomness (0=deterministic, 1=creative)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4526280"/>
            <a:ext cx="557784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6309360" y="4526280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top_p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63840" y="45262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Nucleus sampling threshold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4946904"/>
            <a:ext cx="5577840" cy="384048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29" name="Text 27"/>
          <p:cNvSpPr/>
          <p:nvPr/>
        </p:nvSpPr>
        <p:spPr>
          <a:xfrm>
            <a:off x="6309360" y="4946904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stop_sequences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63840" y="4946904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stop tokens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Cost, Latency &amp; the Full Request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74320" cy="2743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is per input + output tokens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74320" cy="2743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7" name="Text 5"/>
          <p:cNvSpPr/>
          <p:nvPr/>
        </p:nvSpPr>
        <p:spPr>
          <a:xfrm>
            <a:off x="548640" y="178308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Longer context = higher cost + latency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74320" cy="2743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0" name="Text 8"/>
          <p:cNvSpPr/>
          <p:nvPr/>
        </p:nvSpPr>
        <p:spPr>
          <a:xfrm>
            <a:off x="548640" y="228600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 (stream=True) enables real-time UX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Request → Response Flow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A337A"/>
          </a:solidFill>
        </p:spPr>
      </p:sp>
      <p:sp>
        <p:nvSpPr>
          <p:cNvPr id="14" name="Text 12"/>
          <p:cNvSpPr/>
          <p:nvPr/>
        </p:nvSpPr>
        <p:spPr>
          <a:xfrm>
            <a:off x="548640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41448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8C42"/>
          </a:solidFill>
        </p:spPr>
      </p:sp>
      <p:sp>
        <p:nvSpPr>
          <p:cNvPr id="17" name="Text 15"/>
          <p:cNvSpPr/>
          <p:nvPr/>
        </p:nvSpPr>
        <p:spPr>
          <a:xfrm>
            <a:off x="2441448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33088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34256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A337A"/>
          </a:solidFill>
        </p:spPr>
      </p:sp>
      <p:sp>
        <p:nvSpPr>
          <p:cNvPr id="20" name="Text 18"/>
          <p:cNvSpPr/>
          <p:nvPr/>
        </p:nvSpPr>
        <p:spPr>
          <a:xfrm>
            <a:off x="4334256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(forward pass)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25896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7064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8C42"/>
          </a:solidFill>
        </p:spPr>
      </p:sp>
      <p:sp>
        <p:nvSpPr>
          <p:cNvPr id="23" name="Text 21"/>
          <p:cNvSpPr/>
          <p:nvPr/>
        </p:nvSpPr>
        <p:spPr>
          <a:xfrm>
            <a:off x="6227064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18704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19872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A337A"/>
          </a:solidFill>
        </p:spPr>
      </p:sp>
      <p:sp>
        <p:nvSpPr>
          <p:cNvPr id="26" name="Text 24"/>
          <p:cNvSpPr/>
          <p:nvPr/>
        </p:nvSpPr>
        <p:spPr>
          <a:xfrm>
            <a:off x="8119872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Detokenizer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11512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12680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8C42"/>
          </a:solidFill>
        </p:spPr>
      </p:sp>
      <p:sp>
        <p:nvSpPr>
          <p:cNvPr id="29" name="Text 27"/>
          <p:cNvSpPr/>
          <p:nvPr/>
        </p:nvSpPr>
        <p:spPr>
          <a:xfrm>
            <a:off x="10012680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2A337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074920"/>
            <a:ext cx="10561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Callback:  </a:t>
            </a: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ties directly back to your GPT-from-scratch notebook — the "API" is just a wrapper around the exact decoder-only transformer + sampling loop students already learned.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11490</Words>
  <Application>WPS Presentation</Application>
  <PresentationFormat>On-screen Show (16:9)</PresentationFormat>
  <Paragraphs>738</Paragraphs>
  <Slides>17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Consolas</vt:lpstr>
      <vt:lpstr>Consolas</vt:lpstr>
      <vt:lpstr>Consolas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Nikhil</cp:lastModifiedBy>
  <cp:revision>6</cp:revision>
  <dcterms:created xsi:type="dcterms:W3CDTF">2026-08-18T04:58:00Z</dcterms:created>
  <dcterms:modified xsi:type="dcterms:W3CDTF">2026-08-18T05:15:32Z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7CEE73578041434FAB68D78FD06B40F2_12</vt:lpwstr>
  </property>
  <property fmtid="{D5CDD505-2E9C-101B-9397-08002B2CF9AE}" pid="3" name="KSOProductBuildVer">
    <vt:lpwstr>1033-12.1.0.28032</vt:lpwstr>
  </property>
</Properties>
</file>